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[8.3 s] Bienvenidos a Solaris Math: matemáticas que despegan. Una aplicación para aprender matemáticas de primero a once, paso a paso y a tu propio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[15.2 s] Solaris Math funciona en el navegador de cualquier celular o computador, sin publicidad. Tiene cincuenta y tres temas, relacionados con los Estándares y los Derechos Básicos de Aprendizaje del Ministerio de Educación. Y sus ejercicios se crean al momento, así que nunca se repiten.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 s] Cada estudiante crea su perfil con un apodo. Su avance se dibuja como una escalera: para subir al siguiente tema, debe aprobar con nueve de quince respuestas correctas. Y si ya sabe, la prueba de ubicación le permite empezar en su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[14.4 s] Cada tema empieza con una lección completa: qué es, paso a paso, un ejemplo resuelto, para qué sirve en la vida real y el error más común. La sección Explora trae dibujos interactivos para mover, girar y descubrir. Y cada tema muestra sus referentes del Ministerio.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[15.4 s] Luego vienen quince ejercicios generados al azar: con números, opciones, dibujos para tocar o fracciones para pintar. Si el estudiante se equivoca, ve la solución paso a paso. Un reloj mide su tiempo; hay sonidos, rachas y récords. Y cada tema tiene una guía en PDF para imprimir.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[10.6 s] Debajo del logo están las herramientas. La pizarra convierte la pantalla en un tablero para hacer cuentas a mano. Y la calculadora tiene tres niveles: básica, científica y… extraterrestre.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[15.5 s] El modo extraterrestre deriva funciones mostrando cada regla. Grafica hasta tres funciones y encuentra sus puntos notables. Dibuja sólidos de revolución en tres dimensiones. Y calcula probabilidades con la curva normal, además de resolver ecuaciones, incluso con números complejos.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[14.4 s] Cada grado aprobado entrega un diploma, y al completar la ruta llega el diploma final. Para los docentes hay guías imprimibles y un informe de alineación curricular. Y si el colegio lo desea, una versión conectada a Google Sheets muestra el avance de todo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[9.3 s] Se publica gratis en internet, se comparte con un código QR y se puede instalar como aplicación. Funciona sin conexión, y el avance queda guardado en cada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[3.9 s] Solaris Math. Matemáticas que despegan. ¿Empezamos?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78408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865376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2752344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639312" y="1362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13248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300216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187184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074152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28600"/>
            <a:ext cx="3657600" cy="3657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de 1.º a 11.º, paso a paso y a tu ritmo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80" y="4745736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16" name="Shape 13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17" name="Shape 14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18" name="Shape 15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19" name="Shape 16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21" name="Shape 18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22" name="Shape 19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23" name="Shape 20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24" name="Shape 21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 · Bienvenida</a:t>
            </a:r>
            <a:endParaRPr lang="en-US" sz="1100" dirty="0"/>
          </a:p>
        </p:txBody>
      </p:sp>
    </p:spTree>
  </p:cSld>
  <p:clrMapOvr>
    <a:masterClrMapping/>
  </p:clrMapOvr>
  <p:transition spd="med" advClick="1" advTm="83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9768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316736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203704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3090672" y="649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864608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751576" y="4242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63854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colegio en una sola app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1737360"/>
            <a:ext cx="1874520" cy="2148840"/>
          </a:xfrm>
          <a:prstGeom prst="roundRect">
            <a:avLst>
              <a:gd name="adj" fmla="val 9756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3B55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874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64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2926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 1.º a 11.º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542032" y="1737360"/>
            <a:ext cx="1874520" cy="2148840"/>
          </a:xfrm>
          <a:prstGeom prst="roundRect">
            <a:avLst>
              <a:gd name="adj" fmla="val 9756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3B558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42032" y="1874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2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2679192" y="2926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grados, de Primaria a la Media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26864" y="1737360"/>
            <a:ext cx="1874520" cy="2148840"/>
          </a:xfrm>
          <a:prstGeom prst="roundRect">
            <a:avLst>
              <a:gd name="adj" fmla="val 9756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3B558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26864" y="1874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6400" dirty="0"/>
          </a:p>
        </p:txBody>
      </p:sp>
      <p:sp>
        <p:nvSpPr>
          <p:cNvPr id="22" name="Text 19"/>
          <p:cNvSpPr txBox="1"/>
          <p:nvPr/>
        </p:nvSpPr>
        <p:spPr>
          <a:xfrm>
            <a:off x="4764024" y="2926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Básicos de Aprendizaje relacionados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11696" y="1737360"/>
            <a:ext cx="1874520" cy="2148840"/>
          </a:xfrm>
          <a:prstGeom prst="roundRect">
            <a:avLst>
              <a:gd name="adj" fmla="val 9756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3B558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11696" y="1874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A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6400" dirty="0"/>
          </a:p>
        </p:txBody>
      </p:sp>
      <p:sp>
        <p:nvSpPr>
          <p:cNvPr id="25" name="Text 22"/>
          <p:cNvSpPr txBox="1"/>
          <p:nvPr/>
        </p:nvSpPr>
        <p:spPr>
          <a:xfrm>
            <a:off x="6848856" y="2926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ejercicios: nunca se repiten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Shape 24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28" name="Shape 25"/>
          <p:cNvSpPr/>
          <p:nvPr/>
        </p:nvSpPr>
        <p:spPr>
          <a:xfrm>
            <a:off x="1330909" y="4713732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29" name="Shape 26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0" name="Shape 27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1" name="Shape 28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2" name="Shape 29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3" name="Shape 30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4" name="Shape 31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5" name="Shape 32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6" name="Shape 33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 · En cifras</a:t>
            </a:r>
            <a:endParaRPr lang="en-US" sz="1100" dirty="0"/>
          </a:p>
        </p:txBody>
      </p:sp>
    </p:spTree>
  </p:cSld>
  <p:clrMapOvr>
    <a:masterClrMapping/>
  </p:clrMapOvr>
  <p:transition spd="med" advClick="1" advTm="15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8096" y="1380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655064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542032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31596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202936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089904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una escalera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28C1B"/>
          </a:solidFill>
          <a:ln/>
        </p:spPr>
      </p:sp>
      <p:pic>
        <p:nvPicPr>
          <p:cNvPr id="15" name="Image 1" descr="img/es_ic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entra con su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apodo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pic>
        <p:nvPicPr>
          <p:cNvPr id="18" name="Image 2" descr="img/es_ic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066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578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avance se dibuja como una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colores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218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3946"/>
          </a:solidFill>
          <a:ln/>
        </p:spPr>
      </p:sp>
      <p:pic>
        <p:nvPicPr>
          <p:cNvPr id="21" name="Image 3" descr="img/es_ic_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182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con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15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abre el siguiente tema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3822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A4C93"/>
          </a:solidFill>
          <a:ln/>
        </p:spPr>
      </p:sp>
      <p:pic>
        <p:nvPicPr>
          <p:cNvPr id="24" name="Image 4" descr="img/es_ic_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4128" y="37856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ubicación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pone en su nivel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 rot="-300000">
            <a:off x="5120640" y="9144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5" descr="img/es_registro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300000">
            <a:off x="5175504" y="969264"/>
            <a:ext cx="1399032" cy="29077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 rot="300000">
            <a:off x="7132320" y="96012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9" name="Image 6" descr="img/es_inicio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300000">
            <a:off x="7187184" y="1014984"/>
            <a:ext cx="1399032" cy="290779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 rot="-120000">
            <a:off x="6126480" y="11430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31" name="Image 7" descr="img/es_ubicacion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 rot="-120000">
            <a:off x="6181344" y="1197864"/>
            <a:ext cx="1399032" cy="29077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3" name="Shape 23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4" name="Shape 24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5" name="Shape 25"/>
          <p:cNvSpPr/>
          <p:nvPr/>
        </p:nvSpPr>
        <p:spPr>
          <a:xfrm>
            <a:off x="2340864" y="4681728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36" name="Shape 26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7" name="Shape 27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8" name="Shape 28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9" name="Shape 29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0" name="Shape 30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1" name="Shape 31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2" name="Shape 32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 · La escalera</a:t>
            </a:r>
            <a:endParaRPr lang="en-US" sz="1100" dirty="0"/>
          </a:p>
        </p:txBody>
      </p:sp>
    </p:spTree>
  </p:cSld>
  <p:clrMapOvr>
    <a:masterClrMapping/>
  </p:clrMapOvr>
  <p:transition spd="med" advClick="1" advTm="13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6424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993392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3767328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654296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541264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569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02168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se entiende,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se practica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E5BB8"/>
          </a:solidFill>
          <a:ln/>
        </p:spPr>
      </p:sp>
      <p:pic>
        <p:nvPicPr>
          <p:cNvPr id="15" name="Image 1" descr="img/es_ic_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en cinco partes: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paso a paso, ejemplo, vida real y error común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0A6ED"/>
          </a:solidFill>
          <a:ln/>
        </p:spPr>
      </p:sp>
      <p:pic>
        <p:nvPicPr>
          <p:cNvPr id="18" name="Image 2" descr="img/es_ic_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066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578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dibujos que se mueven con el dedo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218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9F"/>
          </a:solidFill>
          <a:ln/>
        </p:spPr>
      </p:sp>
      <p:pic>
        <p:nvPicPr>
          <p:cNvPr id="21" name="Image 3" descr="img/es_ic_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182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del Ministerio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tema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 rot="-300000">
            <a:off x="5120640" y="9144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4" name="Image 4" descr="img/es_leccio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 rot="-300000">
            <a:off x="5175504" y="969264"/>
            <a:ext cx="1399032" cy="290779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 rot="300000">
            <a:off x="7132320" y="96012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6" name="Image 5" descr="img/es_explor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300000">
            <a:off x="7187184" y="1014984"/>
            <a:ext cx="1399032" cy="29077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 rot="-120000">
            <a:off x="6126480" y="11430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8" name="Image 6" descr="img/es_referentes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-120000">
            <a:off x="6181344" y="1197864"/>
            <a:ext cx="1399032" cy="290779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Shape 21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1" name="Shape 22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2" name="Shape 23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3" name="Shape 24"/>
          <p:cNvSpPr/>
          <p:nvPr/>
        </p:nvSpPr>
        <p:spPr>
          <a:xfrm>
            <a:off x="3322168" y="4649724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34" name="Shape 25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5" name="Shape 26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6" name="Shape 27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7" name="Shape 28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8" name="Shape 29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9" name="Shape 30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 · Cada tema</a:t>
            </a:r>
            <a:endParaRPr lang="en-US" sz="1100" dirty="0"/>
          </a:p>
        </p:txBody>
      </p:sp>
    </p:spTree>
  </p:cSld>
  <p:clrMapOvr>
    <a:masterClrMapping/>
  </p:clrMapOvr>
  <p:transition spd="med" advClick="1" advTm="14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44752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905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10565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992624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879592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653528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540496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retos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enseñan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28C1B"/>
          </a:solidFill>
          <a:ln/>
        </p:spPr>
      </p:sp>
      <p:pic>
        <p:nvPicPr>
          <p:cNvPr id="15" name="Image 1" descr="img/es_ic_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generados al azar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dibujos para tocar y pintar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FA80F"/>
          </a:solidFill>
          <a:ln/>
        </p:spPr>
      </p:sp>
      <p:pic>
        <p:nvPicPr>
          <p:cNvPr id="18" name="Image 2" descr="img/es_ic_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066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578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equivoca, ve la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paso a paso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218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F6F59"/>
          </a:solidFill>
          <a:ln/>
        </p:spPr>
      </p:sp>
      <p:pic>
        <p:nvPicPr>
          <p:cNvPr id="21" name="Image 3" descr="img/es_ic_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182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sonidos, rachas y récords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3822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E5BB8"/>
          </a:solidFill>
          <a:ln/>
        </p:spPr>
      </p:sp>
      <p:pic>
        <p:nvPicPr>
          <p:cNvPr id="24" name="Image 4" descr="img/es_ic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4128" y="37856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PDF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imprimible de cada tema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 rot="-300000">
            <a:off x="5120640" y="9144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5" descr="img/es_ejercicio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300000">
            <a:off x="5175504" y="969264"/>
            <a:ext cx="1399032" cy="29077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 rot="300000">
            <a:off x="7132320" y="96012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9" name="Image 6" descr="img/es_pinta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300000">
            <a:off x="7187184" y="1014984"/>
            <a:ext cx="1399032" cy="290779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 rot="-120000">
            <a:off x="6126480" y="11430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31" name="Image 7" descr="img/es_resultado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 rot="-120000">
            <a:off x="6181344" y="1197864"/>
            <a:ext cx="1399032" cy="2907792"/>
          </a:xfrm>
          <a:prstGeom prst="rect">
            <a:avLst/>
          </a:prstGeom>
        </p:spPr>
      </p:pic>
      <p:pic>
        <p:nvPicPr>
          <p:cNvPr id="32" name="Image 8" descr="img/guia_e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480000">
            <a:off x="4617720" y="2788920"/>
            <a:ext cx="960120" cy="1362456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pic>
      <p:sp>
        <p:nvSpPr>
          <p:cNvPr id="33" name="Shape 22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Shape 23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5" name="Shape 24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6" name="Shape 25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7" name="Shape 26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8" name="Shape 27"/>
          <p:cNvSpPr/>
          <p:nvPr/>
        </p:nvSpPr>
        <p:spPr>
          <a:xfrm>
            <a:off x="4389425" y="4617720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39" name="Shape 28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0" name="Shape 29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1" name="Shape 30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2" name="Shape 31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3" name="Shape 32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 · Practicar</a:t>
            </a:r>
            <a:endParaRPr lang="en-US" sz="1100" dirty="0"/>
          </a:p>
        </p:txBody>
      </p:sp>
    </p:spTree>
  </p:cSld>
  <p:clrMapOvr>
    <a:masterClrMapping/>
  </p:clrMapOvr>
  <p:transition spd="med" advClick="1" advTm="15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30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670048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557016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443984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330952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10488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991856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a la mano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3946"/>
          </a:solidFill>
          <a:ln/>
        </p:spPr>
      </p:sp>
      <p:pic>
        <p:nvPicPr>
          <p:cNvPr id="15" name="Image 1" descr="img/es_ic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toda la pantalla se vuelve un tablero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A800"/>
          </a:solidFill>
          <a:ln/>
        </p:spPr>
      </p:sp>
      <p:pic>
        <p:nvPicPr>
          <p:cNvPr id="18" name="Image 2" descr="img/es_ic_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066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578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Primaria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218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pic>
        <p:nvPicPr>
          <p:cNvPr id="21" name="Image 3" descr="img/es_ic_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182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y…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extraterrestre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👽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 rot="-300000">
            <a:off x="5120640" y="9144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4" name="Image 4" descr="img/es_pizarr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 rot="-300000">
            <a:off x="5175504" y="969264"/>
            <a:ext cx="1399032" cy="290779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 rot="300000">
            <a:off x="7132320" y="96012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6" name="Image 5" descr="img/es_calc_basic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300000">
            <a:off x="7187184" y="1014984"/>
            <a:ext cx="1399032" cy="29077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 rot="-120000">
            <a:off x="6126480" y="11430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8" name="Image 6" descr="img/es_calc_alien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-120000">
            <a:off x="6181344" y="1197864"/>
            <a:ext cx="1399032" cy="290779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Shape 21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1" name="Shape 22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2" name="Shape 23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3" name="Shape 24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4" name="Shape 25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35" name="Shape 26"/>
          <p:cNvSpPr/>
          <p:nvPr/>
        </p:nvSpPr>
        <p:spPr>
          <a:xfrm>
            <a:off x="5320589" y="4585716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36" name="Shape 27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7" name="Shape 28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8" name="Shape 29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9" name="Shape 30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 · Herramientas</a:t>
            </a:r>
            <a:endParaRPr lang="en-US" sz="1100" dirty="0"/>
          </a:p>
        </p:txBody>
      </p:sp>
    </p:spTree>
  </p:cSld>
  <p:clrMapOvr>
    <a:masterClrMapping/>
  </p:clrMapOvr>
  <p:transition spd="med" advClick="1" advTm="106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21408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008376" y="676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89534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782312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429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55624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443216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330184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380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extraterrestre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A4C93"/>
          </a:solidFill>
          <a:ln/>
        </p:spPr>
      </p:sp>
      <p:pic>
        <p:nvPicPr>
          <p:cNvPr id="15" name="Image 1" descr="img/es_ic_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con pasos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regla explicada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3946"/>
          </a:solidFill>
          <a:ln/>
        </p:spPr>
      </p:sp>
      <p:pic>
        <p:nvPicPr>
          <p:cNvPr id="18" name="Image 2" descr="img/es_ic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066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578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cortes, máximos y mínimos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218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0A6ED"/>
          </a:solidFill>
          <a:ln/>
        </p:spPr>
      </p:sp>
      <p:pic>
        <p:nvPicPr>
          <p:cNvPr id="21" name="Image 3" descr="img/es_ic_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182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Sólidos de revolución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3D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3822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9F"/>
          </a:solidFill>
          <a:ln/>
        </p:spPr>
      </p:sp>
      <p:pic>
        <p:nvPicPr>
          <p:cNvPr id="24" name="Image 4" descr="img/es_ic_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4128" y="37856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curva normal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 rot="-240000">
            <a:off x="5120640" y="86868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5" descr="img/es_derivad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240000">
            <a:off x="5175504" y="923544"/>
            <a:ext cx="1399032" cy="29077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 rot="240000">
            <a:off x="7086600" y="9144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9" name="Image 6" descr="img/es_solidos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240000">
            <a:off x="7141464" y="969264"/>
            <a:ext cx="1399032" cy="290779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Shape 22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2" name="Shape 23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3" name="Shape 24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4" name="Shape 25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Shape 26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36" name="Shape 27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37" name="Shape 28"/>
          <p:cNvSpPr/>
          <p:nvPr/>
        </p:nvSpPr>
        <p:spPr>
          <a:xfrm>
            <a:off x="6255334" y="4553712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38" name="Shape 29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9" name="Shape 30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0" name="Shape 31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 · Modo 👽</a:t>
            </a:r>
            <a:endParaRPr lang="en-US" sz="1100" dirty="0"/>
          </a:p>
        </p:txBody>
      </p:sp>
    </p:spTree>
  </p:cSld>
  <p:clrMapOvr>
    <a:masterClrMapping/>
  </p:clrMapOvr>
  <p:transition spd="med" advClick="1" advTm="15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59736" y="3803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346704" y="1161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23367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007608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94576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781544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68512" y="667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184708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logro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premio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A800"/>
          </a:solidFill>
          <a:ln/>
        </p:spPr>
      </p:sp>
      <p:pic>
        <p:nvPicPr>
          <p:cNvPr id="15" name="Image 1" descr="img/es_ic_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cada grado y otro por la ruta completa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7432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E5BB8"/>
          </a:solidFill>
          <a:ln/>
        </p:spPr>
      </p:sp>
      <p:pic>
        <p:nvPicPr>
          <p:cNvPr id="18" name="Image 2" descr="img/es_ic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70662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y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curricular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docentes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pic>
        <p:nvPicPr>
          <p:cNvPr id="21" name="Image 3" descr="img/es_ic_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4381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avance del grupo en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500" dirty="0"/>
          </a:p>
        </p:txBody>
      </p:sp>
      <p:pic>
        <p:nvPicPr>
          <p:cNvPr id="23" name="Image 4" descr="img/diplom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 rot="-180000">
            <a:off x="4892040" y="960120"/>
            <a:ext cx="3977640" cy="2816352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pic>
      <p:sp>
        <p:nvSpPr>
          <p:cNvPr id="24" name="Shape 17"/>
          <p:cNvSpPr/>
          <p:nvPr/>
        </p:nvSpPr>
        <p:spPr>
          <a:xfrm>
            <a:off x="182880" y="137160"/>
            <a:ext cx="6400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Shape 18"/>
          <p:cNvSpPr/>
          <p:nvPr/>
        </p:nvSpPr>
        <p:spPr>
          <a:xfrm rot="2220000">
            <a:off x="522122" y="697687"/>
            <a:ext cx="64008" cy="109728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26" name="Shape 19"/>
          <p:cNvSpPr/>
          <p:nvPr/>
        </p:nvSpPr>
        <p:spPr>
          <a:xfrm rot="4440000">
            <a:off x="861365" y="343814"/>
            <a:ext cx="64008" cy="10972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7" name="Shape 20"/>
          <p:cNvSpPr/>
          <p:nvPr/>
        </p:nvSpPr>
        <p:spPr>
          <a:xfrm rot="6660000">
            <a:off x="1200607" y="904342"/>
            <a:ext cx="6400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Shape 21"/>
          <p:cNvSpPr/>
          <p:nvPr/>
        </p:nvSpPr>
        <p:spPr>
          <a:xfrm rot="8880000">
            <a:off x="1539850" y="550469"/>
            <a:ext cx="64008" cy="109728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29" name="Shape 22"/>
          <p:cNvSpPr/>
          <p:nvPr/>
        </p:nvSpPr>
        <p:spPr>
          <a:xfrm rot="300000">
            <a:off x="1879092" y="196596"/>
            <a:ext cx="64008" cy="109728"/>
          </a:xfrm>
          <a:prstGeom prst="rect">
            <a:avLst/>
          </a:prstGeom>
          <a:solidFill>
            <a:srgbClr val="C0399F"/>
          </a:solidFill>
          <a:ln/>
        </p:spPr>
      </p:sp>
      <p:sp>
        <p:nvSpPr>
          <p:cNvPr id="30" name="Shape 23"/>
          <p:cNvSpPr/>
          <p:nvPr/>
        </p:nvSpPr>
        <p:spPr>
          <a:xfrm rot="2520000">
            <a:off x="2218334" y="757123"/>
            <a:ext cx="64008" cy="1097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1" name="Shape 24"/>
          <p:cNvSpPr/>
          <p:nvPr/>
        </p:nvSpPr>
        <p:spPr>
          <a:xfrm rot="4740000">
            <a:off x="2557577" y="403250"/>
            <a:ext cx="6400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Shape 25"/>
          <p:cNvSpPr/>
          <p:nvPr/>
        </p:nvSpPr>
        <p:spPr>
          <a:xfrm rot="6960000">
            <a:off x="2896819" y="963778"/>
            <a:ext cx="64008" cy="109728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3" name="Shape 26"/>
          <p:cNvSpPr/>
          <p:nvPr/>
        </p:nvSpPr>
        <p:spPr>
          <a:xfrm rot="9180000">
            <a:off x="3236062" y="609905"/>
            <a:ext cx="64008" cy="10972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4" name="Shape 27"/>
          <p:cNvSpPr/>
          <p:nvPr/>
        </p:nvSpPr>
        <p:spPr>
          <a:xfrm rot="600000">
            <a:off x="3575304" y="256032"/>
            <a:ext cx="6400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Shape 28"/>
          <p:cNvSpPr/>
          <p:nvPr/>
        </p:nvSpPr>
        <p:spPr>
          <a:xfrm rot="2820000">
            <a:off x="3914546" y="816559"/>
            <a:ext cx="64008" cy="109728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36" name="Shape 29"/>
          <p:cNvSpPr/>
          <p:nvPr/>
        </p:nvSpPr>
        <p:spPr>
          <a:xfrm rot="5040000">
            <a:off x="4253789" y="462686"/>
            <a:ext cx="64008" cy="109728"/>
          </a:xfrm>
          <a:prstGeom prst="rect">
            <a:avLst/>
          </a:prstGeom>
          <a:solidFill>
            <a:srgbClr val="C0399F"/>
          </a:solidFill>
          <a:ln/>
        </p:spPr>
      </p:sp>
      <p:sp>
        <p:nvSpPr>
          <p:cNvPr id="37" name="Shape 30"/>
          <p:cNvSpPr/>
          <p:nvPr/>
        </p:nvSpPr>
        <p:spPr>
          <a:xfrm rot="7260000">
            <a:off x="4593031" y="1023214"/>
            <a:ext cx="64008" cy="1097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8" name="Shape 31"/>
          <p:cNvSpPr/>
          <p:nvPr/>
        </p:nvSpPr>
        <p:spPr>
          <a:xfrm rot="9480000">
            <a:off x="4932274" y="669341"/>
            <a:ext cx="6400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9" name="Shape 32"/>
          <p:cNvSpPr/>
          <p:nvPr/>
        </p:nvSpPr>
        <p:spPr>
          <a:xfrm rot="900000">
            <a:off x="5271516" y="315468"/>
            <a:ext cx="64008" cy="109728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40" name="Shape 33"/>
          <p:cNvSpPr/>
          <p:nvPr/>
        </p:nvSpPr>
        <p:spPr>
          <a:xfrm rot="3120000">
            <a:off x="5610758" y="875995"/>
            <a:ext cx="64008" cy="10972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41" name="Shape 34"/>
          <p:cNvSpPr/>
          <p:nvPr/>
        </p:nvSpPr>
        <p:spPr>
          <a:xfrm rot="5340000">
            <a:off x="5950001" y="522122"/>
            <a:ext cx="6400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2" name="Shape 35"/>
          <p:cNvSpPr/>
          <p:nvPr/>
        </p:nvSpPr>
        <p:spPr>
          <a:xfrm rot="7560000">
            <a:off x="6289243" y="168250"/>
            <a:ext cx="64008" cy="109728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43" name="Shape 36"/>
          <p:cNvSpPr/>
          <p:nvPr/>
        </p:nvSpPr>
        <p:spPr>
          <a:xfrm rot="9780000">
            <a:off x="6628486" y="728777"/>
            <a:ext cx="64008" cy="109728"/>
          </a:xfrm>
          <a:prstGeom prst="rect">
            <a:avLst/>
          </a:prstGeom>
          <a:solidFill>
            <a:srgbClr val="C0399F"/>
          </a:solidFill>
          <a:ln/>
        </p:spPr>
      </p:sp>
      <p:sp>
        <p:nvSpPr>
          <p:cNvPr id="44" name="Shape 37"/>
          <p:cNvSpPr/>
          <p:nvPr/>
        </p:nvSpPr>
        <p:spPr>
          <a:xfrm rot="1200000">
            <a:off x="6967728" y="374904"/>
            <a:ext cx="64008" cy="1097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45" name="Shape 38"/>
          <p:cNvSpPr/>
          <p:nvPr/>
        </p:nvSpPr>
        <p:spPr>
          <a:xfrm rot="3420000">
            <a:off x="7306970" y="935431"/>
            <a:ext cx="6400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6" name="Shape 39"/>
          <p:cNvSpPr/>
          <p:nvPr/>
        </p:nvSpPr>
        <p:spPr>
          <a:xfrm rot="5640000">
            <a:off x="7646213" y="581558"/>
            <a:ext cx="64008" cy="109728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47" name="Shape 40"/>
          <p:cNvSpPr/>
          <p:nvPr/>
        </p:nvSpPr>
        <p:spPr>
          <a:xfrm rot="7860000">
            <a:off x="7985455" y="227686"/>
            <a:ext cx="64008" cy="10972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48" name="Shape 41"/>
          <p:cNvSpPr/>
          <p:nvPr/>
        </p:nvSpPr>
        <p:spPr>
          <a:xfrm rot="10080000">
            <a:off x="8324698" y="788213"/>
            <a:ext cx="6400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9" name="Shape 42"/>
          <p:cNvSpPr/>
          <p:nvPr/>
        </p:nvSpPr>
        <p:spPr>
          <a:xfrm rot="1500000">
            <a:off x="8663940" y="434340"/>
            <a:ext cx="64008" cy="109728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50" name="Shape 43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1" name="Shape 44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52" name="Shape 45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53" name="Shape 46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54" name="Shape 47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5" name="Shape 48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56" name="Shape 49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57" name="Shape 50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58" name="Shape 51"/>
          <p:cNvSpPr/>
          <p:nvPr/>
        </p:nvSpPr>
        <p:spPr>
          <a:xfrm>
            <a:off x="7326173" y="4521708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59" name="Shape 52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60" name="Shape 53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61" name="Text 54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 · Diploma</a:t>
            </a:r>
            <a:endParaRPr lang="en-US" sz="1100" dirty="0"/>
          </a:p>
        </p:txBody>
      </p:sp>
    </p:spTree>
  </p:cSld>
  <p:clrMapOvr>
    <a:masterClrMapping/>
  </p:clrMapOvr>
  <p:transition spd="med" advClick="1" advTm="14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98064" y="448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8503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58968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345936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232904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119872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185416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7315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al salón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0A6ED"/>
          </a:solidFill>
          <a:ln/>
        </p:spPr>
      </p:sp>
      <p:pic>
        <p:nvPicPr>
          <p:cNvPr id="15" name="Image 1" descr="img/es_ic_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4128" y="197510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publica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internet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28C1B"/>
          </a:solidFill>
          <a:ln/>
        </p:spPr>
      </p:sp>
      <p:pic>
        <p:nvPicPr>
          <p:cNvPr id="18" name="Image 2" descr="img/es_ic_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066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2578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con un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218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FA80F"/>
          </a:solidFill>
          <a:ln/>
        </p:spPr>
      </p:sp>
      <p:pic>
        <p:nvPicPr>
          <p:cNvPr id="21" name="Image 3" descr="img/es_ic_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4128" y="3182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y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3822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A4C93"/>
          </a:solidFill>
          <a:ln/>
        </p:spPr>
      </p:sp>
      <p:pic>
        <p:nvPicPr>
          <p:cNvPr id="24" name="Image 4" descr="img/es_ic_2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4128" y="37856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se guarda </a:t>
            </a:r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dispositivo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 rot="-300000">
            <a:off x="5120640" y="914400"/>
            <a:ext cx="1508760" cy="3017520"/>
          </a:xfrm>
          <a:prstGeom prst="roundRect">
            <a:avLst>
              <a:gd name="adj" fmla="val 9697"/>
            </a:avLst>
          </a:prstGeom>
          <a:solidFill>
            <a:srgbClr val="0A0F1C"/>
          </a:solidFill>
          <a:ln w="12700">
            <a:solidFill>
              <a:srgbClr val="2C375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5" descr="img/es_compartir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300000">
            <a:off x="5175504" y="969264"/>
            <a:ext cx="1399032" cy="29077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Shape 21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0" name="Shape 22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1" name="Shape 23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2" name="Shape 24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Shape 25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34" name="Shape 26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35" name="Shape 27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36" name="Shape 28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C0399F"/>
          </a:solidFill>
          <a:ln/>
        </p:spPr>
      </p:sp>
      <p:sp>
        <p:nvSpPr>
          <p:cNvPr id="37" name="Shape 29"/>
          <p:cNvSpPr/>
          <p:nvPr/>
        </p:nvSpPr>
        <p:spPr>
          <a:xfrm>
            <a:off x="8174965" y="4489704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38" name="Shape 30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2A3F6B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 · Llévala a clase</a:t>
            </a:r>
            <a:endParaRPr lang="en-US" sz="1100" dirty="0"/>
          </a:p>
        </p:txBody>
      </p:sp>
    </p:spTree>
  </p:cSld>
  <p:clrMapOvr>
    <a:masterClrMapping/>
  </p:clrMapOvr>
  <p:transition spd="med" advClick="1" advTm="93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36392" y="932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02336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910328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797296" y="685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684264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571232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523744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A92">
                    <a:alpha val="2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</a:t>
            </a:r>
            <a:endParaRPr lang="en-US" sz="2600" dirty="0"/>
          </a:p>
        </p:txBody>
      </p:sp>
      <p:pic>
        <p:nvPicPr>
          <p:cNvPr id="12" name="Image 0" descr="img/logo_solaris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"/>
            <a:ext cx="566928" cy="5669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965960"/>
            <a:ext cx="292608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Shape 11"/>
          <p:cNvSpPr/>
          <p:nvPr/>
        </p:nvSpPr>
        <p:spPr>
          <a:xfrm>
            <a:off x="1188720" y="1810512"/>
            <a:ext cx="292608" cy="429768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15" name="Shape 12"/>
          <p:cNvSpPr/>
          <p:nvPr/>
        </p:nvSpPr>
        <p:spPr>
          <a:xfrm>
            <a:off x="1554480" y="1655064"/>
            <a:ext cx="292608" cy="585216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6" name="Shape 13"/>
          <p:cNvSpPr/>
          <p:nvPr/>
        </p:nvSpPr>
        <p:spPr>
          <a:xfrm>
            <a:off x="1920240" y="1499616"/>
            <a:ext cx="292608" cy="740664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17" name="Shape 14"/>
          <p:cNvSpPr/>
          <p:nvPr/>
        </p:nvSpPr>
        <p:spPr>
          <a:xfrm>
            <a:off x="2286000" y="1344168"/>
            <a:ext cx="292608" cy="89611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Shape 15"/>
          <p:cNvSpPr/>
          <p:nvPr/>
        </p:nvSpPr>
        <p:spPr>
          <a:xfrm>
            <a:off x="2651760" y="1188720"/>
            <a:ext cx="292608" cy="1051560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19" name="Shape 16"/>
          <p:cNvSpPr/>
          <p:nvPr/>
        </p:nvSpPr>
        <p:spPr>
          <a:xfrm>
            <a:off x="3017520" y="1033272"/>
            <a:ext cx="292608" cy="1207008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20" name="Shape 17"/>
          <p:cNvSpPr/>
          <p:nvPr/>
        </p:nvSpPr>
        <p:spPr>
          <a:xfrm>
            <a:off x="3383280" y="877824"/>
            <a:ext cx="292608" cy="1362456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21" name="Shape 18"/>
          <p:cNvSpPr/>
          <p:nvPr/>
        </p:nvSpPr>
        <p:spPr>
          <a:xfrm>
            <a:off x="3749040" y="722376"/>
            <a:ext cx="292608" cy="1517904"/>
          </a:xfrm>
          <a:prstGeom prst="rect">
            <a:avLst/>
          </a:prstGeom>
          <a:solidFill>
            <a:srgbClr val="C0399F"/>
          </a:solidFill>
          <a:ln/>
        </p:spPr>
      </p:sp>
      <p:sp>
        <p:nvSpPr>
          <p:cNvPr id="22" name="Shape 19"/>
          <p:cNvSpPr/>
          <p:nvPr/>
        </p:nvSpPr>
        <p:spPr>
          <a:xfrm>
            <a:off x="4114800" y="566928"/>
            <a:ext cx="292608" cy="1673352"/>
          </a:xfrm>
          <a:prstGeom prst="rect">
            <a:avLst/>
          </a:prstGeom>
          <a:solidFill>
            <a:srgbClr val="FF6F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720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despegan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código QR y empieza hoy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760720" y="777240"/>
            <a:ext cx="2834640" cy="34290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26" name="Image 1" descr="img/qr_app_s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2468880" cy="24688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760720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Math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576072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ttonguinon.github.io/solaris-math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4901184"/>
            <a:ext cx="557936" cy="12801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Shape 26"/>
          <p:cNvSpPr/>
          <p:nvPr/>
        </p:nvSpPr>
        <p:spPr>
          <a:xfrm>
            <a:off x="868832" y="4869180"/>
            <a:ext cx="1052170" cy="160020"/>
          </a:xfrm>
          <a:prstGeom prst="rect">
            <a:avLst/>
          </a:prstGeom>
          <a:solidFill>
            <a:srgbClr val="F28C1B"/>
          </a:solidFill>
          <a:ln/>
        </p:spPr>
      </p:sp>
      <p:sp>
        <p:nvSpPr>
          <p:cNvPr id="31" name="Shape 27"/>
          <p:cNvSpPr/>
          <p:nvPr/>
        </p:nvSpPr>
        <p:spPr>
          <a:xfrm>
            <a:off x="1957578" y="4837176"/>
            <a:ext cx="894588" cy="19202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2" name="Shape 28"/>
          <p:cNvSpPr/>
          <p:nvPr/>
        </p:nvSpPr>
        <p:spPr>
          <a:xfrm>
            <a:off x="2888742" y="4805172"/>
            <a:ext cx="994867" cy="224028"/>
          </a:xfrm>
          <a:prstGeom prst="rect">
            <a:avLst/>
          </a:prstGeom>
          <a:solidFill>
            <a:srgbClr val="6FA80F"/>
          </a:solidFill>
          <a:ln/>
        </p:spPr>
      </p:sp>
      <p:sp>
        <p:nvSpPr>
          <p:cNvPr id="33" name="Shape 29"/>
          <p:cNvSpPr/>
          <p:nvPr/>
        </p:nvSpPr>
        <p:spPr>
          <a:xfrm>
            <a:off x="3920185" y="4773168"/>
            <a:ext cx="1066495" cy="2560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4" name="Shape 30"/>
          <p:cNvSpPr/>
          <p:nvPr/>
        </p:nvSpPr>
        <p:spPr>
          <a:xfrm>
            <a:off x="5023256" y="4741164"/>
            <a:ext cx="722681" cy="288036"/>
          </a:xfrm>
          <a:prstGeom prst="rect">
            <a:avLst/>
          </a:prstGeom>
          <a:solidFill>
            <a:srgbClr val="00A6ED"/>
          </a:solidFill>
          <a:ln/>
        </p:spPr>
      </p:sp>
      <p:sp>
        <p:nvSpPr>
          <p:cNvPr id="35" name="Shape 31"/>
          <p:cNvSpPr/>
          <p:nvPr/>
        </p:nvSpPr>
        <p:spPr>
          <a:xfrm>
            <a:off x="5782513" y="4709160"/>
            <a:ext cx="1073658" cy="32004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36" name="Shape 32"/>
          <p:cNvSpPr/>
          <p:nvPr/>
        </p:nvSpPr>
        <p:spPr>
          <a:xfrm>
            <a:off x="6892747" y="4677156"/>
            <a:ext cx="994867" cy="352044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37" name="Shape 33"/>
          <p:cNvSpPr/>
          <p:nvPr/>
        </p:nvSpPr>
        <p:spPr>
          <a:xfrm>
            <a:off x="7924190" y="4645152"/>
            <a:ext cx="629564" cy="384048"/>
          </a:xfrm>
          <a:prstGeom prst="rect">
            <a:avLst/>
          </a:prstGeom>
          <a:solidFill>
            <a:srgbClr val="C0399F"/>
          </a:solidFill>
          <a:ln/>
        </p:spPr>
      </p:sp>
      <p:sp>
        <p:nvSpPr>
          <p:cNvPr id="38" name="Shape 34"/>
          <p:cNvSpPr/>
          <p:nvPr/>
        </p:nvSpPr>
        <p:spPr>
          <a:xfrm>
            <a:off x="8590331" y="4613148"/>
            <a:ext cx="242773" cy="416052"/>
          </a:xfrm>
          <a:prstGeom prst="rect">
            <a:avLst/>
          </a:prstGeom>
          <a:solidFill>
            <a:srgbClr val="FF6F59"/>
          </a:solidFill>
          <a:ln/>
        </p:spPr>
      </p:sp>
      <p:sp>
        <p:nvSpPr>
          <p:cNvPr id="39" name="Shape 35"/>
          <p:cNvSpPr/>
          <p:nvPr/>
        </p:nvSpPr>
        <p:spPr>
          <a:xfrm>
            <a:off x="8647709" y="4457700"/>
            <a:ext cx="128016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58368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· ¿Empezamos?</a:t>
            </a:r>
            <a:endParaRPr lang="en-US" sz="1100" dirty="0"/>
          </a:p>
        </p:txBody>
      </p:sp>
    </p:spTree>
  </p:cSld>
  <p:clrMapOvr>
    <a:masterClrMapping/>
  </p:clrMapOvr>
  <p:transition spd="med" advClick="1" advTm="39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Solaris Math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Solaris Math · Presentación</dc:title>
  <dc:subject>PptxGenJS Presentation</dc:subject>
  <dc:creator>PptxGenJS</dc:creator>
  <cp:lastModifiedBy>PptxGenJS</cp:lastModifiedBy>
  <cp:revision>1</cp:revision>
  <dcterms:created xsi:type="dcterms:W3CDTF">2026-09-16T23:40:23Z</dcterms:created>
  <dcterms:modified xsi:type="dcterms:W3CDTF">2026-09-16T23:40:23Z</dcterms:modified>
</cp:coreProperties>
</file>